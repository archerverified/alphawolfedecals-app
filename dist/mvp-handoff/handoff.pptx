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13" Type="http://schemas.openxmlformats.org/officeDocument/2006/relationships/image" Target="../media/image12.png" /><Relationship Id="rId12" Type="http://schemas.openxmlformats.org/officeDocument/2006/relationships/image" Target="../media/image11.png" /><Relationship Id="rId11" Type="http://schemas.openxmlformats.org/officeDocument/2006/relationships/image" Target="../media/image10.png" /><Relationship Id="rId10" Type="http://schemas.openxmlformats.org/officeDocument/2006/relationships/image" Target="../media/image9.png" /><Relationship Id="rId9" Type="http://schemas.openxmlformats.org/officeDocument/2006/relationships/image" Target="../media/image8.png" /><Relationship Id="rId8" Type="http://schemas.openxmlformats.org/officeDocument/2006/relationships/image" Target="../media/image7.png" /><Relationship Id="rId7" Type="http://schemas.openxmlformats.org/officeDocument/2006/relationships/image" Target="../media/image6.png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Alpha Wolf Wrap Studio — MVP Investor Handoff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Verification package · prepared 2026-06-10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Alpha Wolf Wrap Studio — MVP Handoff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Prepared:</a:t>
            </a:r>
            <a:r>
              <a:rPr/>
              <a:t> 2026-06-10 · </a:t>
            </a:r>
            <a:r>
              <a:rPr b="1"/>
              <a:t>Environment:</a:t>
            </a:r>
            <a:r>
              <a:rPr/>
              <a:t> production (</a:t>
            </a:r>
            <a:r>
              <a:rPr>
                <a:latin typeface="Courier"/>
              </a:rPr>
              <a:t>https://alphawolfedecals-app-web.vercel.app</a:t>
            </a:r>
            <a:r>
              <a:rPr/>
              <a:t>) · </a:t>
            </a:r>
            <a:r>
              <a:rPr b="1"/>
              <a:t>Status:</a:t>
            </a:r>
            <a:r>
              <a:rPr/>
              <a:t> MVP, pre-public-launch.</a:t>
            </a:r>
          </a:p>
          <a:p>
            <a:pPr lvl="0" indent="0" marL="0">
              <a:buNone/>
            </a:pPr>
            <a:r>
              <a:rPr/>
              <a:t>This package is the independent verification of the Alpha Wolf Wrap Studio MVP: what it does, how it’s built, its security and production posture, an honest list of launch blockers, and a screenshot walk-through of the working product. Everything below was verified against the live production system this session, not from documentation.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What the MVP does</a:t>
            </a:r>
          </a:p>
          <a:p>
            <a:pPr lvl="0" indent="0" marL="0">
              <a:buNone/>
            </a:pPr>
            <a:r>
              <a:rPr/>
              <a:t>Alpha Wolf Wrap Studio is a web app that turns a vehicle-wrap order from a back-and- forth email thread into a self-serve design-and-submit flow.</a:t>
            </a:r>
          </a:p>
          <a:p>
            <a:pPr lvl="0"/>
            <a:r>
              <a:rPr b="1"/>
              <a:t>Customer</a:t>
            </a:r>
            <a:r>
              <a:rPr/>
              <a:t> browses a catalogue of vehicle templates, opens one in an in-browser </a:t>
            </a:r>
            <a:r>
              <a:rPr b="1"/>
              <a:t>design editor</a:t>
            </a:r>
            <a:r>
              <a:rPr/>
              <a:t> (place artwork, shapes and text on accurate, wrap-safe vehicle panels; recolor; autosave), and </a:t>
            </a:r>
            <a:r>
              <a:rPr b="1"/>
              <a:t>submits the design for production</a:t>
            </a:r>
            <a:r>
              <a:rPr/>
              <a:t>, which creates an order. No payment in the MVP.</a:t>
            </a:r>
          </a:p>
          <a:p>
            <a:pPr lvl="0"/>
            <a:r>
              <a:rPr b="1"/>
              <a:t>Wrap shop</a:t>
            </a:r>
            <a:r>
              <a:rPr/>
              <a:t> sees orders routed to it in a </a:t>
            </a:r>
            <a:r>
              <a:rPr b="1"/>
              <a:t>production queue</a:t>
            </a:r>
            <a:r>
              <a:rPr/>
              <a:t>, opens an order, and moves it through the lifecycle (</a:t>
            </a:r>
            <a:r>
              <a:rPr b="1"/>
              <a:t>submitted → in production → fulfilled</a:t>
            </a:r>
            <a:r>
              <a:rPr/>
              <a:t>).</a:t>
            </a:r>
          </a:p>
          <a:p>
            <a:pPr lvl="0"/>
            <a:r>
              <a:rPr b="1"/>
              <a:t>Email</a:t>
            </a:r>
            <a:r>
              <a:rPr/>
              <a:t> notifications fire at each step (4 PII-safe templates); errors go to Sentry; product analytics to PostHog.</a:t>
            </a:r>
          </a:p>
          <a:p>
            <a:pPr lvl="0" indent="0" marL="0">
              <a:buNone/>
            </a:pPr>
            <a:r>
              <a:rPr/>
              <a:t>The end-to-end loop — sign in → design → submit → shop receives → fulfil — is </a:t>
            </a:r>
            <a:r>
              <a:rPr b="1"/>
              <a:t>proven working on production</a:t>
            </a:r>
            <a:r>
              <a:rPr/>
              <a:t> (automated smoke, see §5 and §7).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Architecture snapshot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Technology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Web app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Next.js 15 (App Router, React 19) on </a:t>
                      </a:r>
                      <a:r>
                        <a:rPr b="1"/>
                        <a:t>Vercel</a:t>
                      </a:r>
                      <a:r>
                        <a:rPr/>
                        <a:t> (region </a:t>
                      </a:r>
                      <a:r>
                        <a:rPr>
                          <a:latin typeface="Courier"/>
                        </a:rPr>
                        <a:t>sfo1</a:t>
                      </a:r>
                      <a:r>
                        <a:rPr/>
                        <a:t>), Tailwind v4 + shadcn/ui, </a:t>
                      </a:r>
                      <a:r>
                        <a:rPr b="1"/>
                        <a:t>Konva</a:t>
                      </a:r>
                      <a:r>
                        <a:rPr/>
                        <a:t> canvas editor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 </a:t>
                      </a:r>
                      <a:r>
                        <a:rPr>
                          <a:latin typeface="Courier"/>
                        </a:rPr>
                        <a:t>@alphawolf/auth</a:t>
                      </a:r>
                      <a:r>
                        <a:rPr/>
                        <a:t> on Auth.js v5 — argon2id passwords, email OTP, double-submit CSRF, DB-backed login lockout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Postgres</a:t>
                      </a:r>
                      <a:r>
                        <a:rPr/>
                        <a:t> (Supabase, us-west-1) via Prisma; </a:t>
                      </a:r>
                      <a:r>
                        <a:rPr b="1"/>
                        <a:t>row-level security (RLS) forced on every table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boundary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Two-connection split</a:t>
                      </a:r>
                      <a:r>
                        <a:rPr/>
                        <a:t> — an </a:t>
                      </a:r>
                      <a:r>
                        <a:rPr>
                          <a:latin typeface="Courier"/>
                        </a:rPr>
                        <a:t>app_user</a:t>
                      </a:r>
                      <a:r>
                        <a:rPr/>
                        <a:t> (non-superuser) connection with RLS enforced for all customer/shop queries; a privileged connection only for unauthenticated bootstrap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Supabase Storage — public bucket for vehicle templates, </a:t>
                      </a:r>
                      <a:r>
                        <a:rPr b="1"/>
                        <a:t>private</a:t>
                      </a:r>
                      <a:r>
                        <a:rPr/>
                        <a:t> bucket for customer artwork (signed-URL, ownership-checked)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Email / errors / analytics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Resend · Sentry (server+edge, PII-scrubbed) · PostHog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Background workers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apps/api</a:t>
                      </a:r>
                      <a:r>
                        <a:rPr/>
                        <a:t> (email-retry, asset parse) on Render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Monorepo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Turborepo + pnpm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architecture decisions are recorded as ADRs (</a:t>
            </a:r>
            <a:r>
              <a:rPr>
                <a:latin typeface="Courier"/>
              </a:rPr>
              <a:t>docs/adr/</a:t>
            </a:r>
            <a:r>
              <a:rPr/>
              <a:t>); the deploy contract is locked under ADR-0013 (amended this session — see §6).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Security &amp; production posture</a:t>
            </a:r>
          </a:p>
          <a:p>
            <a:pPr lvl="0" indent="0" marL="0">
              <a:buNone/>
            </a:pPr>
            <a:r>
              <a:rPr/>
              <a:t>A full </a:t>
            </a:r>
            <a:r>
              <a:rPr b="1"/>
              <a:t>security audit</a:t>
            </a:r>
            <a:r>
              <a:rPr/>
              <a:t> and </a:t>
            </a:r>
            <a:r>
              <a:rPr b="1"/>
              <a:t>production-readiness audit</a:t>
            </a:r>
            <a:r>
              <a:rPr/>
              <a:t> were run against production this session (reports in </a:t>
            </a:r>
            <a:r>
              <a:rPr>
                <a:latin typeface="Courier"/>
              </a:rPr>
              <a:t>docs/deployment/audits/2026-06-09-goal-4/</a:t>
            </a:r>
            <a:r>
              <a:rPr/>
              <a:t>).</a:t>
            </a:r>
          </a:p>
          <a:p>
            <a:pPr lvl="0" indent="0" marL="0">
              <a:buNone/>
            </a:pPr>
            <a:r>
              <a:rPr b="1"/>
              <a:t>Security: PASS — no High/critical live failure.</a:t>
            </a:r>
            <a:r>
              <a:rPr/>
              <a:t> Verified live, not from code:</a:t>
            </a:r>
          </a:p>
          <a:p>
            <a:pPr lvl="0"/>
            <a:r>
              <a:rPr/>
              <a:t>RLS is </a:t>
            </a:r>
            <a:r>
              <a:rPr b="1"/>
              <a:t>forced on all 14 tables</a:t>
            </a:r>
            <a:r>
              <a:rPr/>
              <a:t>; the orders table’s customer/shop policy triple was confirmed live (a customer sees only their orders; a shop sees only orders routed to it; cross-tenant access returns nothing).</a:t>
            </a:r>
          </a:p>
          <a:p>
            <a:pPr lvl="0"/>
            <a:r>
              <a:rPr/>
              <a:t>6 security headers + a comprehensive CSP, </a:t>
            </a:r>
            <a:r>
              <a:rPr b="1"/>
              <a:t>byte-identical</a:t>
            </a:r>
            <a:r>
              <a:rPr/>
              <a:t> between source and the live response (HSTS 2 yr, X-Frame DENY, hardened </a:t>
            </a:r>
            <a:r>
              <a:rPr>
                <a:latin typeface="Courier"/>
              </a:rPr>
              <a:t>__Host-</a:t>
            </a:r>
            <a:r>
              <a:rPr/>
              <a:t> session cookies).</a:t>
            </a:r>
          </a:p>
          <a:p>
            <a:pPr lvl="0"/>
            <a:r>
              <a:rPr b="1"/>
              <a:t>Zero secrets</a:t>
            </a:r>
            <a:r>
              <a:rPr/>
              <a:t> in client-shipped code. Dev/admin backdoor endpoints are hard-404 in production (verified). Every state-changing action enforces authentication + authorization + CSRF + RLS. Hardened file-upload path. No XSS sinks. argon2id + DB-backed brute-force lockout.</a:t>
            </a:r>
          </a:p>
          <a:p>
            <a:pPr lvl="0"/>
            <a:r>
              <a:rPr/>
              <a:t>Supabase database advisors: </a:t>
            </a:r>
            <a:r>
              <a:rPr b="1"/>
              <a:t>2 low warnings, down from 4</a:t>
            </a:r>
            <a:r>
              <a:rPr/>
              <a:t> after this session’s fix (no new warnings introduced).</a:t>
            </a:r>
          </a:p>
          <a:p>
            <a:pPr lvl="0" indent="0" marL="0">
              <a:buNone/>
            </a:pPr>
            <a:r>
              <a:rPr b="1"/>
              <a:t>Production-readiness: functionally launch-ready for a demo</a:t>
            </a:r>
            <a:r>
              <a:rPr/>
              <a:t>, with a standard pre-public-launch hardening list (§6). Health endpoint live; CI/CD auto-deploys </a:t>
            </a:r>
            <a:r>
              <a:rPr>
                <a:latin typeface="Courier"/>
              </a:rPr>
              <a:t>main</a:t>
            </a:r>
            <a:r>
              <a:rPr/>
              <a:t>; clean dependency + lockfile hygiene.</a:t>
            </a:r>
          </a:p>
          <a:p>
            <a:pPr lvl="0" indent="0" marL="0">
              <a:buNone/>
            </a:pPr>
            <a:r>
              <a:rPr b="1"/>
              <a:t>Performance (Lighthouse, prod):</a:t>
            </a:r>
            <a:r>
              <a:rPr/>
              <a:t> Performance ~88–89, Accessibility 100, Best-Practices 92, all stable vs the prior baseline. (SEO reads low only because the site intentionally blocks crawlers pre-launch; it reverts at launch. Details in </a:t>
            </a:r>
            <a:r>
              <a:rPr>
                <a:latin typeface="Courier"/>
              </a:rPr>
              <a:t>docs/deployment/lighthouse-2026-06-10/</a:t>
            </a:r>
            <a:r>
              <a:rPr/>
              <a:t>.)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What was found and fixed this session</a:t>
            </a:r>
          </a:p>
          <a:p>
            <a:pPr lvl="0" indent="0" marL="0">
              <a:buNone/>
            </a:pPr>
            <a:r>
              <a:rPr/>
              <a:t>A verification goal’s job is to surface what’s actually true. Two significant issues were found; one was fixed under full review, one is a data gap flagged for launch.</a:t>
            </a:r>
          </a:p>
          <a:p>
            <a:pPr lvl="0"/>
            <a:r>
              <a:rPr b="1"/>
              <a:t>FIXED — production RLS recursion bug (was High).</a:t>
            </a:r>
            <a:r>
              <a:rPr/>
              <a:t> The membership policy referenced itself, so reading any order routed to a shop threw an infinite- recursion error — the entire shop-order path (submit-routed, dashboard read, status transitions) was broken. It was dormant only because no order had ever been routed to a shop. </a:t>
            </a:r>
            <a:r>
              <a:rPr b="1"/>
              <a:t>No data was ever exposed</a:t>
            </a:r>
            <a:r>
              <a:rPr/>
              <a:t> (it failed closed — an error, never over-broad visibility). Fixed with a security-definer helper, reviewed (independent + advisor), verified live across six gates, and merged (PR #116). The same change also closed two pre-existing database advisor warnings.</a:t>
            </a:r>
          </a:p>
          <a:p>
            <a:pPr lvl="0"/>
            <a:r>
              <a:rPr b="1"/>
              <a:t>FLAGGED — the design editor has no design surface on the catalogue templates (High launch blocker; data gap, not a code gap).</a:t>
            </a:r>
            <a:r>
              <a:rPr/>
              <a:t> The 3 curated Alpha Wolf catalogue templates (BMW X3, Bass Boat, Crown Coach) have </a:t>
            </a:r>
            <a:r>
              <a:rPr b="1"/>
              <a:t>no panel geometry</a:t>
            </a:r>
            <a:r>
              <a:rPr/>
              <a:t>, so the editor opens but you can’t place artwork on them. The editor itself </a:t>
            </a:r>
            <a:r>
              <a:rPr b="1"/>
              <a:t>works end-to-end</a:t>
            </a:r>
            <a:r>
              <a:rPr/>
              <a:t> — proven on the Ford Transit template (6 panels): place, color, save, submit all function (see §7). What’s missing is the per-template panel data. See §6 for the remediation spec.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Verification performed (evidence)</a:t>
            </a:r>
          </a:p>
          <a:p>
            <a:pPr lvl="0"/>
            <a:r>
              <a:rPr b="1"/>
              <a:t>End-to-end smoke on production — PASS (customer + shop loops).</a:t>
            </a:r>
            <a:r>
              <a:rPr/>
              <a:t> Two pre-seeded, verified accounts (created through the app’s real argon2id + HMAC code path) drive: sign-in → browse → editor → submit → order created (customer); sign-in → queue → accept → fulfil (shop). Both green.</a:t>
            </a:r>
          </a:p>
          <a:p>
            <a:pPr lvl="0"/>
            <a:r>
              <a:rPr b="1"/>
              <a:t>RLS isolation proven from a second identity:</a:t>
            </a:r>
            <a:r>
              <a:rPr/>
              <a:t> a shop member reads only their routed order; a non-member sees zero; the customer (owner) sees their own. No recursion, no leak.</a:t>
            </a:r>
          </a:p>
          <a:p>
            <a:pPr lvl="0"/>
            <a:r>
              <a:rPr b="1"/>
              <a:t>Two audits + Lighthouse + database advisors</a:t>
            </a:r>
            <a:r>
              <a:rPr/>
              <a:t> run live (reports in </a:t>
            </a:r>
            <a:r>
              <a:rPr>
                <a:latin typeface="Courier"/>
              </a:rPr>
              <a:t>docs/</a:t>
            </a:r>
            <a:r>
              <a:rPr/>
              <a:t>).</a:t>
            </a:r>
          </a:p>
          <a:p>
            <a:pPr lvl="0"/>
            <a:r>
              <a:rPr b="1"/>
              <a:t>12-screenshot demo set</a:t>
            </a:r>
            <a:r>
              <a:rPr/>
              <a:t> captured from production (§7).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Known gaps &amp; launch blockers (ranked)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Owner / remediation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Catalogue templates have no panel geometry</a:t>
                      </a:r>
                      <a:r>
                        <a:rPr/>
                        <a:t> — editor non-functional on the 3 AW templates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 a panel set per flagship template: a structured SVG with per-panel/per-view classes + wrap-safe zones (the schema the editor reads). Must be authored in-house or from </a:t>
                      </a:r>
                      <a:r>
                        <a:rPr b="1"/>
                        <a:t>licensed</a:t>
                      </a:r>
                      <a:r>
                        <a:rPr/>
                        <a:t> sources — </a:t>
                      </a:r>
                      <a:r>
                        <a:rPr b="1"/>
                        <a:t>never</a:t>
                      </a:r>
                      <a:r>
                        <a:rPr/>
                        <a:t> from the PVO outlines (Goal 1 license verdict is RESTRICTIVE; hard legal boundary). Est. modest effort per vehicle. The B2C roadmap’s guided-design zone-selector (B2C-003) depends on the same data — fixing this unblocks both.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Edge rate-limiting not active on prod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Set </a:t>
                      </a:r>
                      <a:r>
                        <a:rPr>
                          <a:latin typeface="Courier"/>
                        </a:rPr>
                        <a:t>UPSTASH_REDIS_REST_URL/TOKEN</a:t>
                      </a:r>
                      <a:r>
                        <a:rPr/>
                        <a:t> on Vercel + redeploy (runbook: </a:t>
                      </a:r>
                      <a:r>
                        <a:rPr>
                          <a:latin typeface="Courier"/>
                        </a:rPr>
                        <a:t>docs/deployment/runbooks/enable-edge-rate-limiting.md</a:t>
                      </a:r>
                      <a:r>
                        <a:rPr/>
                        <a:t>). Credential brute-force is already guarded by the DB lockout; this adds the edge throttle.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Artwork-upload Server Action returns 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500 on the upload path surfaced in testing (cause hidden by Next’s prod error-digest). Resolve the digest in Sentry or repro locally; root-cause before relying on uploads in a demo.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Email deliverability</a:t>
                      </a:r>
                      <a:r>
                        <a:rPr/>
                        <a:t> (GH-016)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Resend domain verified 2026-06-09; do one real end-to-end send + confirm in the Resend dashboard.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Legal: </a:t>
                      </a:r>
                      <a:r>
                        <a:rPr>
                          <a:latin typeface="Courier"/>
                        </a:rPr>
                        <a:t>/terms</a:t>
                      </a:r>
                      <a:r>
                        <a:rPr/>
                        <a:t> + </a:t>
                      </a:r>
                      <a:r>
                        <a:rPr>
                          <a:latin typeface="Courier"/>
                        </a:rPr>
                        <a:t>/privacy</a:t>
                      </a:r>
                      <a:r>
                        <a:rPr/>
                        <a:t> are stubs; no cookie consent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Replace stub copy with reviewed legal text before public launch.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uptime monitor; Dependabot just added; no backup restore-drill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Wire an uptime monitor on </a:t>
                      </a:r>
                      <a:r>
                        <a:rPr>
                          <a:latin typeface="Courier"/>
                        </a:rPr>
                        <a:t>/health</a:t>
                      </a:r>
                      <a:r>
                        <a:rPr/>
                        <a:t>; let Dependabot run; perform one restore drill before the first real signup.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Verify </a:t>
                      </a:r>
                      <a:r>
                        <a:rPr>
                          <a:latin typeface="Courier"/>
                        </a:rPr>
                        <a:t>DATABASE_URL_APP</a:t>
                      </a:r>
                      <a:r>
                        <a:rPr/>
                        <a:t> is set on Vercel prod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Verify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missing value silently disables RLS. The live cross-tenant test passed, which proves it is set today — re-confirm before launch.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Deferred to v1.1 (tracked):</a:t>
            </a:r>
            <a:r>
              <a:rPr/>
              <a:t> editor testids for the uploaded-image place/color smoke asserts; customer→shop order routing in the UI (today orders are seeded-routed for the shop loop); CI durability for the shop smoke (per-run order seeding); the CSP nonce migration; disabling the unused PostgREST data API.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7. Demo walk-through</a:t>
            </a:r>
          </a:p>
          <a:p>
            <a:pPr lvl="0" indent="0" marL="0">
              <a:buNone/>
            </a:pPr>
            <a:r>
              <a:rPr/>
              <a:t>All captured from </a:t>
            </a:r>
            <a:r>
              <a:rPr b="1"/>
              <a:t>production</a:t>
            </a:r>
            <a:r>
              <a:rPr/>
              <a:t> against seeded accounts. Editor shots use the Ford Transit (the panel-bearing template) per §4/§6.</a:t>
            </a:r>
          </a:p>
          <a:p>
            <a:pPr lvl="0" indent="0" marL="0">
              <a:buNone/>
            </a:pPr>
            <a:r>
              <a:rPr b="1"/>
              <a:t>1. Catalogue gallery</a:t>
            </a:r>
            <a:r>
              <a:rPr/>
              <a:t> — the curated template gallery.</a:t>
            </a:r>
          </a:p>
        </p:txBody>
      </p:sp>
      <p:pic>
        <p:nvPicPr>
          <p:cNvPr descr="screenshots/01-catalog-galler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46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Catalogue gallery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2. Template detail</a:t>
            </a:r>
            <a:r>
              <a:rPr/>
              <a:t> — the design call-to-action.</a:t>
            </a:r>
          </a:p>
        </p:txBody>
      </p:sp>
      <p:pic>
        <p:nvPicPr>
          <p:cNvPr descr="screenshots/02-template-detail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546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Template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3. Editor (empty)</a:t>
            </a:r>
            <a:r>
              <a:rPr/>
              <a:t> — the Ford Transit’s 6 panels render.</a:t>
            </a:r>
          </a:p>
        </p:txBody>
      </p:sp>
      <p:pic>
        <p:nvPicPr>
          <p:cNvPr descr="screenshots/03-editor-empty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568700" y="546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Editor empty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4. Shape placed</a:t>
            </a:r>
            <a:r>
              <a:rPr/>
              <a:t> — a shape on the Front Fascia panel (the placement engine works).</a:t>
            </a:r>
          </a:p>
        </p:txBody>
      </p:sp>
      <p:pic>
        <p:nvPicPr>
          <p:cNvPr descr="screenshots/04-editor-shape-placed.png" id="0" name="Picture 1"/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3568700" y="546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Shape placed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5. Recolored</a:t>
            </a:r>
            <a:r>
              <a:rPr/>
              <a:t> — the shape set to red via the inspector (place + color both work).</a:t>
            </a:r>
          </a:p>
        </p:txBody>
      </p:sp>
      <p:pic>
        <p:nvPicPr>
          <p:cNvPr descr="screenshots/05-editor-colored.png" id="0" name="Picture 1"/>
          <p:cNvPicPr>
            <a:picLocks noGrp="1"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3568700" y="546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Recolored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6. Saved</a:t>
            </a:r>
            <a:r>
              <a:rPr/>
              <a:t> — manual save / autosave flush.</a:t>
            </a:r>
          </a:p>
        </p:txBody>
      </p:sp>
      <p:pic>
        <p:nvPicPr>
          <p:cNvPr descr="screenshots/06-editor-saved.png" id="0" name="Picture 1"/>
          <p:cNvPicPr>
            <a:picLocks noGrp="1"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3568700" y="546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Saved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7. Submit dialog</a:t>
            </a:r>
            <a:r>
              <a:rPr/>
              <a:t> — contact details; no payment in the MVP.</a:t>
            </a:r>
          </a:p>
        </p:txBody>
      </p:sp>
      <p:pic>
        <p:nvPicPr>
          <p:cNvPr descr="screenshots/07-submit-dialog.png" id="0" name="Picture 1"/>
          <p:cNvPicPr>
            <a:picLocks noGrp="1"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3568700" y="546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Submit dialog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8. Order confirmed</a:t>
            </a:r>
            <a:r>
              <a:rPr/>
              <a:t> — the order is created.</a:t>
            </a:r>
          </a:p>
        </p:txBody>
      </p:sp>
      <p:pic>
        <p:nvPicPr>
          <p:cNvPr descr="screenshots/08-order-confirmed.png" id="0" name="Picture 1"/>
          <p:cNvPicPr>
            <a:picLocks noGrp="1"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3568700" y="546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Order confirmed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9. Shop queue</a:t>
            </a:r>
            <a:r>
              <a:rPr/>
              <a:t> — the routed order appears, RLS-scoped to the shop.</a:t>
            </a:r>
          </a:p>
        </p:txBody>
      </p:sp>
      <p:pic>
        <p:nvPicPr>
          <p:cNvPr descr="screenshots/09-shop-queue.png" id="0" name="Picture 1"/>
          <p:cNvPicPr>
            <a:picLocks noGrp="1" noChangeAspect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3568700" y="546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Shop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10. Order detail</a:t>
            </a:r>
            <a:r>
              <a:rPr/>
              <a:t> — the shop’s view of the order.</a:t>
            </a:r>
          </a:p>
        </p:txBody>
      </p:sp>
      <p:pic>
        <p:nvPicPr>
          <p:cNvPr descr="screenshots/10-order-detail.png" id="0" name="Picture 1"/>
          <p:cNvPicPr>
            <a:picLocks noGrp="1" noChangeAspect="1"/>
          </p:cNvPicPr>
          <p:nvPr/>
        </p:nvPicPr>
        <p:blipFill>
          <a:blip r:embed="rId11"/>
          <a:stretch>
            <a:fillRect/>
          </a:stretch>
        </p:blipFill>
        <p:spPr bwMode="auto">
          <a:xfrm>
            <a:off x="3568700" y="546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Order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11. In production</a:t>
            </a:r>
            <a:r>
              <a:rPr/>
              <a:t> — after the shop accepts.</a:t>
            </a:r>
          </a:p>
        </p:txBody>
      </p:sp>
      <p:pic>
        <p:nvPicPr>
          <p:cNvPr descr="screenshots/11-order-in-production.png" id="0" name="Picture 1"/>
          <p:cNvPicPr>
            <a:picLocks noGrp="1" noChangeAspect="1"/>
          </p:cNvPicPr>
          <p:nvPr/>
        </p:nvPicPr>
        <p:blipFill>
          <a:blip r:embed="rId12"/>
          <a:stretch>
            <a:fillRect/>
          </a:stretch>
        </p:blipFill>
        <p:spPr bwMode="auto">
          <a:xfrm>
            <a:off x="3568700" y="546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In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12. Fulfilled</a:t>
            </a:r>
            <a:r>
              <a:rPr/>
              <a:t> — after the shop marks it complete.</a:t>
            </a:r>
          </a:p>
        </p:txBody>
      </p:sp>
      <p:pic>
        <p:nvPicPr>
          <p:cNvPr descr="screenshots/12-order-fulfilled.png" id="0" name="Picture 1"/>
          <p:cNvPicPr>
            <a:picLocks noGrp="1" noChangeAspect="1"/>
          </p:cNvPicPr>
          <p:nvPr/>
        </p:nvPicPr>
        <p:blipFill>
          <a:blip r:embed="rId13"/>
          <a:stretch>
            <a:fillRect/>
          </a:stretch>
        </p:blipFill>
        <p:spPr bwMode="auto">
          <a:xfrm>
            <a:off x="3568700" y="546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Fulfilled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 Bottom line</a:t>
            </a:r>
          </a:p>
          <a:p>
            <a:pPr lvl="0" indent="0" marL="0">
              <a:buNone/>
            </a:pPr>
            <a:r>
              <a:rPr/>
              <a:t>The MVP’s spine is real and verified on production: secure-by-construction auth and data isolation, a working design editor, and a complete customer→shop order lifecycle. The single thing standing between this and a compelling end-to-end demo on the flagship catalogue is </a:t>
            </a:r>
            <a:r>
              <a:rPr b="1"/>
              <a:t>panel data for the 3 Alpha Wolf templates</a:t>
            </a:r>
            <a:r>
              <a:rPr/>
              <a:t> (gap #1) — an authoring task, not an engineering rebuild. The remaining items are the normal pre-public-launch hardening checklist.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 Wolf Wrap Studio — MVP Investor Handoff</dc:title>
  <dc:creator/>
  <cp:keywords/>
  <dcterms:created xsi:type="dcterms:W3CDTF">2026-06-10T05:52:08Z</dcterms:created>
  <dcterms:modified xsi:type="dcterms:W3CDTF">2026-06-10T05:52:08Z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Verification package · prepared 2026-06-10</vt:lpwstr>
  </property>
</Properties>
</file>